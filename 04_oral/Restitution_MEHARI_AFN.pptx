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99148901-fcd9-cd86-9922-140b390727a7}">
          <p14:sldIdLst>
            <p14:sldId id="256"/>
          </p14:sldIdLst>
        </p14:section>
        <p14:section name="Constat" id="{60a25061-65c0-0b2e-bf6b-edb5a1362151}">
          <p14:sldIdLst>
            <p14:sldId id="257"/>
            <p14:sldId id="258"/>
          </p14:sldIdLst>
        </p14:section>
        <p14:section name="Risques" id="{09ee5bdb-c296-3eb6-bc0a-a5606b63c082}">
          <p14:sldIdLst>
            <p14:sldId id="259"/>
            <p14:sldId id="260"/>
          </p14:sldIdLst>
        </p14:section>
        <p14:section name="Plan" id="{d6359b4b-f2bb-55c7-6d41-a56db0eb070b}">
          <p14:sldIdLst>
            <p14:sldId id="261"/>
            <p14:sldId id="262"/>
            <p14:sldId id="263"/>
            <p14:sldId id="264"/>
            <p14:sldId id="265"/>
          </p14:sldIdLst>
        </p14:section>
        <p14:section name="Décisions" id="{9bb53ae4-e9ec-b8e7-2ba3-cd4d4bab7e0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 : une analyse des risques SSI d'AFN avec la méthode MEHARI, pour obtenir six décisions de la direction. Fil : constat, risques, plan, coût, décisions. Durée : 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MEHARI note tous ces services au niveau 1 sur 4. Ce niveau vient en partie du plancher du modèle, qui ne descend jamais sous 1 ; nous avons vérifié qu'une notation directe selon l'échelle de l'énoncé donne exactement le même résultat. Le cas est fictif : chaque information manquante est une hypothèse tracée, à confirmer avec le responsable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à « quels actifs ont les enjeux les plus élevés ? ». Les émargements prouvent la réalisation des formations auprès des financeurs ; la messagerie porte les échanges de factures et de RIB.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scénarios d'incident retenus pour leur gravité et leur lien avec les incidents subis, regroupés en 8 risques : 19 sur 20 inadmissibles décrit cette sélection. RP-1 est le seul insupportable : un rançongiciel vole les données avant de les chiffrer. RP-8 couvre la fraude au faux RIB. Dès le mois 2, l'insupportable disparaît ; la plupart des risques restent au niveau 3, mais beaucoup moins probables (diapositive suivante). RP-6 reste à 3 même à terme : la méthode ne le réduit que par la dissuasion.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Aujourd'hui, 19 scénarios sur 20 sont en gravité 3 ou 4. Dans six mois, plus aucun n'est en gravité 4, et la probabilité baisse pour 13 scénarios ; 13 restent en gravité 3 parce que l'impact reste élevé. Pour descendre plus bas, il faudra des protections matures : 2 à terme.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à « quels sont les trois risques qui nécessitent une décision immédiate ? ». RP-1 parce qu'il est le seul insupportable ; RP-2 et RP-3 parce que les incidents ont déjà eu lieu.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à « quelles actions apportent le meilleur gain à court terme ? » : les gains rapides (étoile), terminés au mois 2, traitent trois des quatre incidents subis et le risque insupportable. Phase 2 : intégrité des données (sortie de l'acceptation de RP-6), chiffrement des données applicatives, confidentialité des données en ligne, surveillance des bureaux, contrôle des interventions du prestataire.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calculés dans le classeur MEHARI, qui vise le niveau 3 (« correctement mis en œuvre ») pour toutes les protections du plan. Avec la grille du guide, un impact 3 et une probabilité 2 donnent toujours 3 : un plan surtout préventif ne peut presque pas descendre sous le seuil. La grille appartient à l'organisation : nous proposons de tolérer sous surveillance cette case précise. Les 38 autres scénarios sont listés un par un dans le fichier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à « quels risques pourrait-on accepter temporairement, sous quelles conditions ? ». Les acceptations sont saisies dans le classeur (colonne AA) et approuvées par la direction, propriétaire de ce risque.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à « comment mesurerez-vous dans six mois que le plan a amélioré la situation ? » : trois niveaux d'indicateurs, de la réalisation au risque.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les décisions, budget compris. Remis : classeur MEHARI v04, dossier d'analyse v5, registre et feuille de route v5, journal d'hypothèses v11.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6"/>
                </a:solidFill>
              </a:rPr>
              <a:t>AFN · Analyse des risques SSI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058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rgbClr val="FCE9D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CE9D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RESTITUTION À LA DIRECTION · TP MEHARI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058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risques SSI d'Alsace Formation Numérique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9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Huit risques prioritaires, des mesures d'urgence dès la première semaine, un plan de six mois et son budget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octobre 2026 · Méthode MEHARI-Standard 2022 · Kleiton KITANI, Ryan AMORY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E9DF"/>
                </a:solidFill>
              </a:rPr>
              <a:t>CONSTAT PRINCIPAL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protections de base, que personne ne pilote ni ne vérifie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731520" y="251460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9A4423"/>
          </a:solidFill>
          <a:ln w="9525">
            <a:solidFill>
              <a:srgbClr val="9A44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CE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place, non piloté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546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et mises à jour des postes ; sauvegarde nocturne du NAS ; synchronisation des postes ; chiffrement vers les services en ligne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89120" y="251460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9A4423"/>
          </a:solidFill>
          <a:ln w="9525">
            <a:solidFill>
              <a:srgbClr val="9A44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CE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1546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de passe seul partout ; double authentification disponible mais non imposée ; accès à distance sans encadrement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46720" y="251460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9A4423"/>
          </a:solidFill>
          <a:ln w="9525">
            <a:solidFill>
              <a:srgbClr val="9A44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CE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1546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 contre les courriels piégés ; journalisation des administrateurs ; solution de repli si un service en ligne tombe ; chiffrement des portables ; authentification des courriels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CE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incidents l'ont déjà montré : courriel piégé, panne d'un service en ligne, fichiers mal partagés, sauvegardes non testées. Périmètre : celui de l'énoncé ; 300 questions, 35 services de sécurité, 36 hypothèses tracées.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CE9D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CE QUI EST EN JEU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des apprenants et la continuité des formations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914400"/>
                <a:gridCol w="9144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de données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Outils internes de gestion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Données dans le cloud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Fichiers bureautiques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Courriels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Services en ligne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disponibilité · I intégrité · C confidentialité. Échelle : 1 faible, 2 moyen, 3 élevé. Aucun niveau 4.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6400800" y="1737360"/>
            <a:ext cx="52120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1901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Confidentialité élevée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3042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personnelles et financières des 1 200 apprenants et des 45 salariés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400800" y="3200400"/>
            <a:ext cx="52120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3364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Intégrité élevée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7673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de financement, émargements, et courriels : un faux RIB envoyé au nom d'AFN détourne un paiement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40080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75120" y="4828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Disponibilité élevée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52303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session est reportée si la plateforme, la visio ou la messagerie tombe plus d'une demi-journée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20 SCÉNARIOS ÉTUDIÉS, REGROUPÉS EN 8 RISQUES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Huit risques prioritaires, par ordre de gravité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· propriétaire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572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Aujourd'hui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572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6 mois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11064240" cy="0"/>
          </a:xfrm>
          <a:prstGeom prst="line">
            <a:avLst/>
          </a:prstGeom>
          <a:noFill/>
          <a:ln w="9525">
            <a:solidFill>
              <a:srgbClr val="D5DC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019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901952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Rançongiciel : vol de données, postes bloqués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: Direction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1965960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1965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insupportable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1965960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69480" y="1965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90195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 en urgence, transférer en partie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391156"/>
            <a:ext cx="11064240" cy="0"/>
          </a:xfrm>
          <a:prstGeom prst="line">
            <a:avLst/>
          </a:prstGeom>
          <a:noFill/>
          <a:ln w="9525">
            <a:solidFill>
              <a:srgbClr val="D5DC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43687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436876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piratés après un courriel piégé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: Direction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2500884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25008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2500884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25008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24368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11064240" cy="0"/>
          </a:xfrm>
          <a:prstGeom prst="line">
            <a:avLst/>
          </a:prstGeom>
          <a:noFill/>
          <a:ln w="9525">
            <a:solidFill>
              <a:srgbClr val="D5DC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718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2971800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perdues, sauvegardes non restaurables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: Dir. administrative et financière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60720" y="3035808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0" y="30358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3035808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69480" y="30358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tolérable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297180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461004"/>
            <a:ext cx="11064240" cy="0"/>
          </a:xfrm>
          <a:prstGeom prst="line">
            <a:avLst/>
          </a:prstGeom>
          <a:noFill/>
          <a:ln w="9525">
            <a:solidFill>
              <a:srgbClr val="D5DC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350672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371600" y="3506724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Panne d'un service en ligne en pleine formation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: Responsable pédagogique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760720" y="3570732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5707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69480" y="3570732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69480" y="35707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tolérable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915400" y="350672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 (transfert marginal)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3995928"/>
            <a:ext cx="11064240" cy="0"/>
          </a:xfrm>
          <a:prstGeom prst="line">
            <a:avLst/>
          </a:prstGeom>
          <a:noFill/>
          <a:ln w="9525">
            <a:solidFill>
              <a:srgbClr val="D5DC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404164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RP-5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371600" y="4041648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partagés par erreur avec l'extérieur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: Dir. administrative et financière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760720" y="4105656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760720" y="41056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69480" y="4105656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69480" y="41056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915400" y="404164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4530852"/>
            <a:ext cx="11064240" cy="0"/>
          </a:xfrm>
          <a:prstGeom prst="line">
            <a:avLst/>
          </a:prstGeom>
          <a:noFill/>
          <a:ln w="9525">
            <a:solidFill>
              <a:srgbClr val="D5DC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8640" y="457657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RP-6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371600" y="4576572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 de droits par une personne interne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: Direction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760720" y="4640580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60720" y="46405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269480" y="4640580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269480" y="46405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915400" y="457657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Réduire, puis accepter 12 mois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5065776"/>
            <a:ext cx="11064240" cy="0"/>
          </a:xfrm>
          <a:prstGeom prst="line">
            <a:avLst/>
          </a:prstGeom>
          <a:noFill/>
          <a:ln w="9525">
            <a:solidFill>
              <a:srgbClr val="D5DCE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8640" y="51114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RP-7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1371600" y="5111496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Fuite par le réseau local ou un portable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: Direction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760720" y="5175504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760720" y="51755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269480" y="5175504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269480" y="51755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8915400" y="511149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8640" y="5600700"/>
            <a:ext cx="11064240" cy="0"/>
          </a:xfrm>
          <a:prstGeom prst="line">
            <a:avLst/>
          </a:prstGeom>
          <a:noFill/>
          <a:ln w="9525">
            <a:solidFill>
              <a:srgbClr val="D5DCE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8640" y="56464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RP-8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371600" y="5646420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Faux courriels au nom d'AFN (faux RIB)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: Dir. administrative et financière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760720" y="5710428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760720" y="57104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269480" y="5710428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269480" y="57104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inadmissible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8915400" y="564642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61996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Gravité : 4 insupportable · 3 inadmissible, à traiter en priorité · 1–2 tolérable. Dans 6 mois : protections correctement mises en œuvre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IMPACT × PROBABILITÉ · LES 20 SCÉNARIOS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plan fait surtout baisser la probabilité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219456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0" y="219456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2194560"/>
            <a:ext cx="859536" cy="8046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219456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2194560"/>
            <a:ext cx="859536" cy="80467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219456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194560"/>
            <a:ext cx="859536" cy="80467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219456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00200" y="306324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00200" y="306324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14600" y="3063240"/>
            <a:ext cx="859536" cy="8046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4600" y="306324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3063240"/>
            <a:ext cx="859536" cy="8046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06324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063240"/>
            <a:ext cx="859536" cy="80467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306324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00200" y="3931920"/>
            <a:ext cx="859536" cy="8046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00200" y="393192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14600" y="393192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14600" y="393192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29000" y="393192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29000" y="393192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43400" y="3931920"/>
            <a:ext cx="859536" cy="8046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43400" y="393192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8006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600200" y="4800600"/>
            <a:ext cx="859536" cy="8046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00200" y="480060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14600" y="4800600"/>
            <a:ext cx="859536" cy="8046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14600" y="480060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429000" y="4800600"/>
            <a:ext cx="859536" cy="8046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29000" y="480060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43400" y="480060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43400" y="480060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600200" y="56692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1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514600" y="56692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2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429000" y="56692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3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343400" y="56692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4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76072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6 mois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5760720" y="21945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12280" y="219456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12280" y="219456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726680" y="2194560"/>
            <a:ext cx="859536" cy="8046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726680" y="219456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641080" y="2194560"/>
            <a:ext cx="859536" cy="80467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641080" y="219456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555480" y="2194560"/>
            <a:ext cx="859536" cy="80467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555480" y="219456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5760720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12280" y="306324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812280" y="306324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726680" y="3063240"/>
            <a:ext cx="859536" cy="8046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26680" y="306324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641080" y="3063240"/>
            <a:ext cx="859536" cy="8046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641080" y="306324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9555480" y="3063240"/>
            <a:ext cx="859536" cy="80467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555480" y="306324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760720" y="3931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2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12280" y="3931920"/>
            <a:ext cx="859536" cy="8046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12280" y="393192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726680" y="393192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726680" y="393192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8641080" y="393192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641080" y="393192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9555480" y="3931920"/>
            <a:ext cx="859536" cy="8046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555480" y="393192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5760720" y="48006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812280" y="4800600"/>
            <a:ext cx="859536" cy="8046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812280" y="480060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7726680" y="4800600"/>
            <a:ext cx="859536" cy="8046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726680" y="480060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8641080" y="4800600"/>
            <a:ext cx="859536" cy="80467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641080" y="480060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9555480" y="4800600"/>
            <a:ext cx="859536" cy="8046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555480" y="4800600"/>
            <a:ext cx="859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6812280" y="56692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1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7726680" y="56692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2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8641080" y="56692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3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9555480" y="56692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4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case : nombre de scénarios et gravité de la case (G1 à G4, répétée par la couleur). P = probabilité (potentialité MEHARI) de 1 à 4.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À DÉCIDER DÈS CE MOIS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risques à traiter tout de suite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38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RP-1 · INSUPPORTABLE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Rançongiciel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risque insupportable : la méthode demande des mesures d'urgence hors cycle budgétaire.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Semaines 1–2 : antivirus vérifié partout, copie des données hors ligne testée ; puis correctifs et procédure d'incident.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715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à moyen · mois 1–2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429768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938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RP-2 · INADMISSIBLE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Comptes piratés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063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Courriels piégés déjà reçus ; mot de passe seul ; accès à distance sans double authentification.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2062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authentification pour tous, administrateurs et accès à distance d'abord ; procédure de signalement et sensibilisation.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5715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· mois 1–2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804672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1938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RP-3 · INADMISSIBLE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Sauvegardes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063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Sauvegardes jamais testées (incident subi), pas de copie hors site, données en ligne non copiées.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2062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sauvegarde, test de restauration puis un par trimestre ; 24 h de données perdues au plus.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715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 · mois 1–2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FEUILLE DE ROUTE · 12 PROJETS MEHARI · 6 LOTS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Dix-neuf actions sur six mois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5544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897880" y="15544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5544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15544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5544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469880" y="15544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28800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1 · MOIS 1 À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22653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Mesures d'urgence rançongiciel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050085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050085"/>
            <a:ext cx="571500" cy="14630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216506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Inventaire des comptes et droits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243938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243938"/>
            <a:ext cx="1106424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410358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Double authentification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437790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37790"/>
            <a:ext cx="2249424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604211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Procédure anti-courriels piégés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631643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631643"/>
            <a:ext cx="2249424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798064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et correctifs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825496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25496"/>
            <a:ext cx="2249424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91917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Sauvegarde testée, hors ligne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019349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019349"/>
            <a:ext cx="2249424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185770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Réponse aux incidents, CNIL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213202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213202"/>
            <a:ext cx="2249424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379622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 sécurité, réévaluation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407054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407054"/>
            <a:ext cx="1106424" cy="1463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69880" y="3407054"/>
            <a:ext cx="1106424" cy="1463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646627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2 · MOIS 2 À 6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3840480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Règles de partage cloud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867912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867912"/>
            <a:ext cx="1106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4034333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 des portables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061765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4061765"/>
            <a:ext cx="2249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4228186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Politique d'accès et départs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4255618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7880" y="4255618"/>
            <a:ext cx="2249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4422038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chiffré, Wi-Fi séparé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4449470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4449470"/>
            <a:ext cx="2249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8640" y="4615891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 des postes des formateurs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4643323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97880" y="4643323"/>
            <a:ext cx="2249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8640" y="4809744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Courriels authentifiés, RIB vérifiés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54880" y="4837176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97880" y="4837176"/>
            <a:ext cx="2249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5003597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 des données cloud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54880" y="5031029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97880" y="5031029"/>
            <a:ext cx="3392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8640" y="5197450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RGPD et financeurs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754880" y="5224882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97880" y="5224882"/>
            <a:ext cx="3392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8640" y="5391302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dégradé des services en ligne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754880" y="5418734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40880" y="5418734"/>
            <a:ext cx="2249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5585155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d'une assurance cyber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754880" y="5612587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40880" y="5612587"/>
            <a:ext cx="2249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48640" y="5779008"/>
            <a:ext cx="41148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Journalisation des administrateurs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754880" y="5806440"/>
            <a:ext cx="6858000" cy="146304"/>
          </a:xfrm>
          <a:prstGeom prst="rect">
            <a:avLst/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40880" y="5806440"/>
            <a:ext cx="4535424" cy="14630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4864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gains rapides · rouge : mesures d'urgence · phase 2 (mois 7 à 12) décidée à M6 · détail des responsables et indicateurs dans le fichier de pilotage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EFFET ATTENDU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plan change en six mois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mois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INSUPPORTABLE ÉLIMINÉ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vol de données par rançongiciel quitte le niveau 4 dès la fin du deuxième mois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SCÉNARIOS MOINS PROBABLES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971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leur probabilité passe de 3 ou 4 à 2 sur 4 : double authentification, sauvegardes, chiffrement, procédures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LE CRITÈRE PROPOSÉ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971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inadmissible parmi les 20 étudiés, si la direction tolère sous surveillance l'impact 3 associé à une probabilité 2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C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restera, en toute transparence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la grille actuelle, 13 scénarios sur 20 restent au niveau 3 (contre 19) : leur impact reste élevé, seule leur probabilité baisse.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autres scénarios, hors de cette première analyse, restent au niveau 3 : ils seront évalués à six mois, pas acceptés à l'aveugle.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protections « matures » réduiraient davantage, en 12 à 18 mois : c'est la phase 2, à décider et chiffrer à six mois.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RISQUES ACCEPTÉS TEMPORAIREMENT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Accepter, mais sous conditions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Contre un abus de droits par une personne interne, la méthode ne prévoit que la dissuasion. Même avec l'inventaire des droits et le moindre privilège, le niveau reste 3 : l'accepter est une dérogation que la direction doit valider.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24688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RP-6 · DIFFUSION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de données par un utilisateur autorisé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03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12 mois · dérogation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Droits inventoriés, politique d'accès en place.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292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et sortie.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trimestrielle des droits ; journaux revus chaque mois, prestataire compris. Aucune sortie dans la méthode : restriction des exports à évaluer avant M12.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297680" y="24688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RP-6 · FALSIFICATION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Falsification de données par un utilisateur autorisé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3703320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703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12 mois · dérogation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mêmes.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0292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et sortie.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validation des dossiers de financement ; contrôle d'intégrité des données (phase 2) qui le ramène à 2.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8046720" y="24688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· NON ACCEPTÉ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Procédure de conformité absente ou ignorée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21040" y="3703320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3703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traité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Conditions.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non-conformité légale (RGPD, financeurs, Qualiopi) ne s'accepte pas : registre des traitements, contrats des sous-traitants.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50292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et sortie.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à six mois ; niveau 1 visé.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PILOTAGE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nous mesurerons le progrès dans six mois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20440" cy="43434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RÉALISATION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actions sont faites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des comptes sous double authentification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des équipements protégés et à jour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test de restauration réussi par trimestre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lien de partage public non justifié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10 % de clics à un hameçonnage simulé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691640"/>
            <a:ext cx="3520440" cy="43434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MATURITÉ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protections progressent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Questionnaires repassés, hypothèses confirmées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étendu aux services non audités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moins 3 pour les protections du plan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ISO 27002 recalculé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046720" y="1691640"/>
            <a:ext cx="3520440" cy="43434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RISQUE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risque baisse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Classeur recalculé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risque insupportable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plus 13 scénarios à 3, probabilité ramenée à 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Scénarios non évalués évalués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sur la phase 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Réévaluation MEHARI à six mois par le référent sécurité · revue des acceptations à six mois, fin à douze mois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DÉCISIONS ATTENDUES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058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décisions demandées aujourd'hui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20370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 plan et son budget : 74 jours de travail, dont 17 de prestataire ; 16 à 26 k€ la première année ; 1,5 jour par semaine du responsable IT pendant deux mois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8437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072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les mesures d'urgence contre les rançongiciels dès la première semaine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4472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107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Imposer la double authentification, administrateurs et accès à distance d'abord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050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142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Désigner un référent sécurité, confirmer les propriétaires des risques, valider la grille et le critère proposé, adopter la procédure d'incident et de notification CNIL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6542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Accepter 12 mois, sous conditions, deux abus internes ; prendre acte des scénarios non évalués, évalués à six mois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22122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par téléphone tout changement de RIB, engager la conformité RGPD, chiffrer une assurance cyber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: 36 hypothèses à confirmer avec le responsable IT, première tâche du référent sécurité. Réévaluation à six mois.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4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N Restitution">
  <a:themeElements>
    <a:clrScheme name="AFN Restitution">
      <a:dk1>
        <a:srgbClr val="1B2A3A"/>
      </a:dk1>
      <a:lt1>
        <a:srgbClr val="FFFFFF"/>
      </a:lt1>
      <a:dk2>
        <a:srgbClr val="0D5E73"/>
      </a:dk2>
      <a:lt2>
        <a:srgbClr val="EEF3F4"/>
      </a:lt2>
      <a:accent1>
        <a:srgbClr val="B5532A"/>
      </a:accent1>
      <a:accent2>
        <a:srgbClr val="0D5E73"/>
      </a:accent2>
      <a:accent3>
        <a:srgbClr val="C00000"/>
      </a:accent3>
      <a:accent4>
        <a:srgbClr val="F4B183"/>
      </a:accent4>
      <a:accent5>
        <a:srgbClr val="FFE699"/>
      </a:accent5>
      <a:accent6>
        <a:srgbClr val="C6E0B4"/>
      </a:accent6>
      <a:hlink>
        <a:srgbClr val="0D5E73"/>
      </a:hlink>
      <a:folHlink>
        <a:srgbClr val="5A6676"/>
      </a:folHlink>
    </a:clrScheme>
    <a:fontScheme name="AFN Restitu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Restitution MEHARI — AFN</dc:title>
  <dc:subject>PptxGenJS Presentation</dc:subject>
  <dc:creator>Kleiton KITANI, Ryan AMORY</dc:creator>
  <cp:lastModifiedBy>Kleiton KITANI, Ryan AMORY</cp:lastModifiedBy>
  <cp:revision>1</cp:revision>
  <dcterms:created xsi:type="dcterms:W3CDTF">2026-10-23T16:39:33Z</dcterms:created>
  <dcterms:modified xsi:type="dcterms:W3CDTF">2026-10-23T16:39:33Z</dcterms:modified>
</cp:coreProperties>
</file>